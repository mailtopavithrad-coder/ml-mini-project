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527048" cy="5070348"/>
          </a:xfrm>
          <a:prstGeom prst="rect">
            <a:avLst/>
          </a:prstGeom>
          <a:solidFill>
            <a:srgbClr val="1D1209"/>
          </a:solidFill>
          <a:ln w="12700">
            <a:solidFill>
              <a:srgbClr val="1D12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7048" y="73152"/>
            <a:ext cx="1527048" cy="5070348"/>
          </a:xfrm>
          <a:prstGeom prst="rect">
            <a:avLst/>
          </a:prstGeom>
          <a:solidFill>
            <a:srgbClr val="1A1008"/>
          </a:solidFill>
          <a:ln w="12700">
            <a:solidFill>
              <a:srgbClr val="1D12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54096" y="73152"/>
            <a:ext cx="1527048" cy="5070348"/>
          </a:xfrm>
          <a:prstGeom prst="rect">
            <a:avLst/>
          </a:prstGeom>
          <a:solidFill>
            <a:srgbClr val="1D1209"/>
          </a:solidFill>
          <a:ln w="12700">
            <a:solidFill>
              <a:srgbClr val="1D12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81144" y="73152"/>
            <a:ext cx="1527048" cy="5070348"/>
          </a:xfrm>
          <a:prstGeom prst="rect">
            <a:avLst/>
          </a:prstGeom>
          <a:solidFill>
            <a:srgbClr val="1A1008"/>
          </a:solidFill>
          <a:ln w="12700">
            <a:solidFill>
              <a:srgbClr val="1D12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73152"/>
            <a:ext cx="1527048" cy="5070348"/>
          </a:xfrm>
          <a:prstGeom prst="rect">
            <a:avLst/>
          </a:prstGeom>
          <a:solidFill>
            <a:srgbClr val="1D1209"/>
          </a:solidFill>
          <a:ln w="12700">
            <a:solidFill>
              <a:srgbClr val="1D120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73152"/>
            <a:ext cx="1527048" cy="5070348"/>
          </a:xfrm>
          <a:prstGeom prst="rect">
            <a:avLst/>
          </a:prstGeom>
          <a:solidFill>
            <a:srgbClr val="1A1008"/>
          </a:solidFill>
          <a:ln w="12700">
            <a:solidFill>
              <a:srgbClr val="1D120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80160"/>
            <a:ext cx="2011680" cy="0"/>
          </a:xfrm>
          <a:prstGeom prst="line">
            <a:avLst/>
          </a:prstGeom>
          <a:noFill/>
          <a:ln w="25400">
            <a:solidFill>
              <a:srgbClr val="E87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201168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54480"/>
            <a:ext cx="201168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91640"/>
            <a:ext cx="8412480" cy="2377440"/>
          </a:xfrm>
          <a:prstGeom prst="rect">
            <a:avLst/>
          </a:prstGeom>
          <a:solidFill>
            <a:srgbClr val="22130A"/>
          </a:solidFill>
          <a:ln w="19050">
            <a:solidFill>
              <a:srgbClr val="E87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1828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5EDD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EARTHQUAKE MAGNITUDE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E87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Laboratory  ·  Mini Project  ·  AL23421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D  |  Reg. No: 2117240030101  |  Rajalakshmi Institute of Technology  |  Dept. of AI &amp; ML  |  Sem IV  |  AY 2025–26  |  Faculty: Ms. Vijayalakshmi R, M.E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4206240"/>
            <a:ext cx="1463040" cy="347472"/>
          </a:xfrm>
          <a:prstGeom prst="rect">
            <a:avLst>
              <a:gd name="adj" fmla="val 13158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SEISMIC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4206240" cy="192024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64008" cy="19202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91440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Multi-Class Classification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399032"/>
            <a:ext cx="39776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490472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earthquake events into 5 categories: Minor, Light, Moderate, Strong, and Major using seismic features.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777240"/>
            <a:ext cx="4206240" cy="192024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777240"/>
            <a:ext cx="64008" cy="192024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6012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76672" y="91440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Evaluation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92040" y="1399032"/>
            <a:ext cx="39776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19472" y="1490472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four ML classifiers — Decision Tree, Random Forest, KNN, and SVM — on the same dataset.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82880" y="2834640"/>
            <a:ext cx="4206240" cy="192024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82880" y="2834640"/>
            <a:ext cx="64008" cy="1920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1752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4672" y="297180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0040" y="3456432"/>
            <a:ext cx="39776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7472" y="3547872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accuracy, precision, recall, and F1-score to identify the best-performing algorithm.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54880" y="2834640"/>
            <a:ext cx="4206240" cy="192024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2834640"/>
            <a:ext cx="64008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76672" y="2971800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Readiness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892040" y="3456432"/>
            <a:ext cx="39776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19472" y="3547872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reproducible ML pipeline suitable for integration into real-time seismic monitoring systems.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Statistics on Earthquakes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2011680" cy="1691640"/>
          </a:xfrm>
          <a:prstGeom prst="rect">
            <a:avLst/>
          </a:prstGeom>
          <a:solidFill>
            <a:srgbClr val="2A1F10"/>
          </a:solidFill>
          <a:ln w="15240">
            <a:solidFill>
              <a:srgbClr val="2E8B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2011680" cy="54864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" y="17190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detected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per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011680" cy="1691640"/>
          </a:xfrm>
          <a:prstGeom prst="rect">
            <a:avLst/>
          </a:prstGeom>
          <a:solidFill>
            <a:srgbClr val="2A1F10"/>
          </a:solidFill>
          <a:ln w="1524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777240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17190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Damaging quakes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on average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2011680" cy="1691640"/>
          </a:xfrm>
          <a:prstGeom prst="rect">
            <a:avLst/>
          </a:prstGeom>
          <a:solidFill>
            <a:srgbClr val="2A1F10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77724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~20,000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17190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 caused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by quakes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777240"/>
            <a:ext cx="2011680" cy="1691640"/>
          </a:xfrm>
          <a:prstGeom prst="rect">
            <a:avLst/>
          </a:prstGeom>
          <a:solidFill>
            <a:srgbClr val="2A1F10"/>
          </a:solidFill>
          <a:ln w="15240">
            <a:solidFill>
              <a:srgbClr val="E87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777240"/>
            <a:ext cx="2011680" cy="54864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2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$10–50B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17190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(USD)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6060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ML Matters for Seismic Classification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" y="2944368"/>
            <a:ext cx="8778240" cy="0"/>
          </a:xfrm>
          <a:prstGeom prst="line">
            <a:avLst/>
          </a:prstGeom>
          <a:noFill/>
          <a:ln w="9525">
            <a:solidFill>
              <a:srgbClr val="5C3D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063240"/>
            <a:ext cx="128016" cy="128016"/>
          </a:xfrm>
          <a:prstGeom prst="oval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seismological classification takes 5–30 minutes per event for expert analysis.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3657600"/>
            <a:ext cx="128016" cy="128016"/>
          </a:xfrm>
          <a:prstGeom prst="oval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93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classify earthquake magnitude in milliseconds using sensor data.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251960"/>
            <a:ext cx="128016" cy="128016"/>
          </a:xfrm>
          <a:prstGeom prst="oval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879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records ~13,000 earthquakes of magnitude ≥ 2.5 per year — automated classification is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2743200" cy="4023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64008" cy="4023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8686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" y="1463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Risk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874520"/>
            <a:ext cx="246888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" y="2029968"/>
            <a:ext cx="91440" cy="91440"/>
          </a:xfrm>
          <a:prstGeom prst="oval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659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cause ~60,000 deaths annually worldwide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688336"/>
            <a:ext cx="91440" cy="91440"/>
          </a:xfrm>
          <a:prstGeom prst="oval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62432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classification aids evacuation and resource deployment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" y="3346704"/>
            <a:ext cx="91440" cy="91440"/>
          </a:xfrm>
          <a:prstGeom prst="oval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28269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systems save lives and reduce property damage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72968" y="777240"/>
            <a:ext cx="2743200" cy="4023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72968" y="777240"/>
            <a:ext cx="64008" cy="4023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86868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82696" y="1463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Gap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310128" y="1874520"/>
            <a:ext cx="246888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337560" y="2029968"/>
            <a:ext cx="91440" cy="91440"/>
          </a:xfrm>
          <a:prstGeom prst="oval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93008" y="19659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seismology relies on expert manual analysis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37560" y="2688336"/>
            <a:ext cx="91440" cy="91440"/>
          </a:xfrm>
          <a:prstGeom prst="oval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93008" y="262432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needs far exceed manual processing capacity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337560" y="3346704"/>
            <a:ext cx="91440" cy="91440"/>
          </a:xfrm>
          <a:prstGeom prst="oval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93008" y="328269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ML pipelines fill this gap effectively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63056" y="777240"/>
            <a:ext cx="2743200" cy="4023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63056" y="777240"/>
            <a:ext cx="64008" cy="402336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868680"/>
            <a:ext cx="548640" cy="5486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72784" y="1463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Opportunity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300216" y="1874520"/>
            <a:ext cx="246888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27648" y="2029968"/>
            <a:ext cx="91440" cy="91440"/>
          </a:xfrm>
          <a:prstGeom prst="oval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83096" y="19659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features (depth, gap, lat/lon) are machine-readable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327648" y="2688336"/>
            <a:ext cx="91440" cy="91440"/>
          </a:xfrm>
          <a:prstGeom prst="oval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83096" y="262432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well-suited to supervised learning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327648" y="3346704"/>
            <a:ext cx="91440" cy="91440"/>
          </a:xfrm>
          <a:prstGeom prst="oval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83096" y="328269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offer high scalability and accuracy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4206240" cy="182880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64008" cy="182880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USGS ShakeAlert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393192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3560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EEW system using seismometer networks; detects P-waves before damaging S-waves arrive.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206240" cy="182880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64008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Japan Meteorological Agency (JMA)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353312"/>
            <a:ext cx="393192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43560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EWS providing magnitude/intensity alerts within seconds via dedicated sensor grids.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834640"/>
            <a:ext cx="4206240" cy="182880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834640"/>
            <a:ext cx="64008" cy="18288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Seismic Hazard Mapping (PSHA)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393192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9300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 predicting long-term seismic risk for infrastructure planning.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206240" cy="182880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Richter Scale &amp; Moment Magnitude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3410712"/>
            <a:ext cx="393192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49300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magnitude scales computed by expert seismologists from waveform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in Existing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2651760" cy="178308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64008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144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9144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130759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3807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analysis takes 5–30 minutes; insufficient for real-time disaster response at scale.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777240"/>
            <a:ext cx="2651760" cy="178308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777240"/>
            <a:ext cx="64008" cy="1783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9144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13048" y="9144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Cost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383280" y="130759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10712" y="13807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seismometer networks require massive infrastructure investments.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309360" y="777240"/>
            <a:ext cx="2651760" cy="178308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777240"/>
            <a:ext cx="64008" cy="178308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91440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76288" y="9144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Gaps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46520" y="130759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73952" y="13807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developing regions lack dense sensor networks, creating blind spots.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82880" y="2788920"/>
            <a:ext cx="2651760" cy="178308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82880" y="2788920"/>
            <a:ext cx="64008" cy="17830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92608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808" y="29260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Dependency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20040" y="331927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47472" y="339242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rely heavily on trained seismologists, creating bottlenecks.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46120" y="2788920"/>
            <a:ext cx="2651760" cy="178308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46120" y="2788920"/>
            <a:ext cx="64008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926080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13048" y="29260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Generalization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383280" y="331927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410712" y="339242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statistical models are region-specific and don't generalize globally.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309360" y="2788920"/>
            <a:ext cx="2651760" cy="178308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309360" y="2788920"/>
            <a:ext cx="64008" cy="1783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926080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76288" y="29260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Prediction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446520" y="331927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473952" y="339242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classify after the event; they cannot predict magnitude in advance.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1554480" cy="475488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772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37360" y="1014984"/>
            <a:ext cx="219456" cy="0"/>
          </a:xfrm>
          <a:prstGeom prst="line">
            <a:avLst/>
          </a:prstGeom>
          <a:noFill/>
          <a:ln w="19050">
            <a:solidFill>
              <a:srgbClr val="C4A9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71600"/>
            <a:ext cx="1554480" cy="1097280"/>
          </a:xfrm>
          <a:prstGeom prst="rect">
            <a:avLst/>
          </a:prstGeom>
          <a:solidFill>
            <a:srgbClr val="2A1F10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371600"/>
            <a:ext cx="1554480" cy="457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417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Generation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" y="176479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synthetic 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(NumPy, seed=42)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56816" y="777240"/>
            <a:ext cx="155448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7772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11296" y="1014984"/>
            <a:ext cx="219456" cy="0"/>
          </a:xfrm>
          <a:prstGeom prst="line">
            <a:avLst/>
          </a:prstGeom>
          <a:noFill/>
          <a:ln w="19050">
            <a:solidFill>
              <a:srgbClr val="C4A9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56816" y="1371600"/>
            <a:ext cx="1554480" cy="1097280"/>
          </a:xfrm>
          <a:prstGeom prst="rect">
            <a:avLst/>
          </a:prstGeom>
          <a:solidFill>
            <a:srgbClr val="2A1F10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56816" y="1371600"/>
            <a:ext cx="15544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1417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56816" y="176479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class labeling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30752" y="777240"/>
            <a:ext cx="1554480" cy="47548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7772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85232" y="1014984"/>
            <a:ext cx="219456" cy="0"/>
          </a:xfrm>
          <a:prstGeom prst="line">
            <a:avLst/>
          </a:prstGeom>
          <a:noFill/>
          <a:ln w="19050">
            <a:solidFill>
              <a:srgbClr val="C4A9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371600"/>
            <a:ext cx="1554480" cy="1097280"/>
          </a:xfrm>
          <a:prstGeom prst="rect">
            <a:avLst/>
          </a:prstGeom>
          <a:solidFill>
            <a:srgbClr val="2A1F10"/>
          </a:solidFill>
          <a:ln w="9525">
            <a:solidFill>
              <a:srgbClr val="E872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0752" y="1371600"/>
            <a:ext cx="1554480" cy="4572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1417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30752" y="176479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04688" y="777240"/>
            <a:ext cx="15544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7772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059168" y="1014984"/>
            <a:ext cx="219456" cy="0"/>
          </a:xfrm>
          <a:prstGeom prst="line">
            <a:avLst/>
          </a:prstGeom>
          <a:noFill/>
          <a:ln w="19050">
            <a:solidFill>
              <a:srgbClr val="C4A9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1371600"/>
            <a:ext cx="1554480" cy="1097280"/>
          </a:xfrm>
          <a:prstGeom prst="rect">
            <a:avLst/>
          </a:prstGeom>
          <a:solidFill>
            <a:srgbClr val="2A1F10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4688" y="1371600"/>
            <a:ext cx="15544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1417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176479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· RF · KNN · SVM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78624" y="777240"/>
            <a:ext cx="1554480" cy="475488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7772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278624" y="1371600"/>
            <a:ext cx="1554480" cy="1097280"/>
          </a:xfrm>
          <a:prstGeom prst="rect">
            <a:avLst/>
          </a:prstGeom>
          <a:solidFill>
            <a:srgbClr val="2A1F10"/>
          </a:solidFill>
          <a:ln w="9525">
            <a:solidFill>
              <a:srgbClr val="4A9E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78624" y="1371600"/>
            <a:ext cx="1554480" cy="4572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8624" y="1417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78624" y="176479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F1-Score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633472"/>
            <a:ext cx="4206240" cy="169164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2633472"/>
            <a:ext cx="64008" cy="16916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724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Used as Input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090672"/>
            <a:ext cx="402336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15468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(km)  ·  Latitude  ·  Longitude  ·  Azimuthal Gap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Classes: Minor  ·  Light  ·  Moderate  ·  Strong  ·  Major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633472"/>
            <a:ext cx="4206240" cy="169164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633472"/>
            <a:ext cx="64008" cy="169164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2724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46320" y="3090672"/>
            <a:ext cx="402336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15468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|  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  |  Support Vector Machine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Comparison: Existing vs Proposed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  <a:gridCol w="3154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Criterion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Existing Systems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Proposed ML System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5–30 minutes (manual)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 (automated)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expert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scalable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(infrastructure &amp; experts)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(software-only)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Region-specific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Data-driven, adaptable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(domain knowledge)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(DT is interpretable)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(alert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 with class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ED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Government/research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Open-source, deployable 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4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Input &amp;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777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Dataset (First 5 Records)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61288"/>
          <a:ext cx="5029200" cy="3200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777240"/>
                <a:gridCol w="868680"/>
                <a:gridCol w="73152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magnitude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depth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latitude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longitude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gap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Class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A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3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0" y="777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Accuracy Output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95160" y="1271016"/>
            <a:ext cx="1645920" cy="256032"/>
          </a:xfrm>
          <a:prstGeom prst="rect">
            <a:avLst/>
          </a:prstGeom>
          <a:solidFill>
            <a:srgbClr val="2A1F10"/>
          </a:solidFill>
          <a:ln w="12700">
            <a:solidFill>
              <a:srgbClr val="5C3D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95160" y="1271016"/>
            <a:ext cx="1110996" cy="25603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123444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19842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95160" y="2020824"/>
            <a:ext cx="1645920" cy="256032"/>
          </a:xfrm>
          <a:prstGeom prst="rect">
            <a:avLst/>
          </a:prstGeom>
          <a:solidFill>
            <a:srgbClr val="2A1F10"/>
          </a:solidFill>
          <a:ln w="12700">
            <a:solidFill>
              <a:srgbClr val="5C3D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95160" y="2020824"/>
            <a:ext cx="82296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0" y="198424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27340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95160" y="2770632"/>
            <a:ext cx="1645920" cy="256032"/>
          </a:xfrm>
          <a:prstGeom prst="rect">
            <a:avLst/>
          </a:prstGeom>
          <a:solidFill>
            <a:srgbClr val="2A1F10"/>
          </a:solidFill>
          <a:ln w="12700">
            <a:solidFill>
              <a:srgbClr val="5C3D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95160" y="2770632"/>
            <a:ext cx="1110996" cy="256032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0" y="2734056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0" y="34838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(Best)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520440"/>
            <a:ext cx="1645920" cy="256032"/>
          </a:xfrm>
          <a:prstGeom prst="rect">
            <a:avLst/>
          </a:prstGeom>
          <a:solidFill>
            <a:srgbClr val="2A1F10"/>
          </a:solidFill>
          <a:ln w="12700">
            <a:solidFill>
              <a:srgbClr val="5C3D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95160" y="3520440"/>
            <a:ext cx="1234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0" y="348386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2880" y="4462272"/>
            <a:ext cx="8778240" cy="411480"/>
          </a:xfrm>
          <a:prstGeom prst="rect">
            <a:avLst/>
          </a:prstGeom>
          <a:solidFill>
            <a:srgbClr val="2A1A08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4622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Best Model: SVM — classified all test samples as 'Light' class (class imbalance issue identified)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Dataset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2651760" cy="1737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64008" cy="173736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144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9144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130759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380744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 for the entire ML pipeline.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777240"/>
            <a:ext cx="2651760" cy="1737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777240"/>
            <a:ext cx="64008" cy="1737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9144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13048" y="9144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383280" y="130759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10712" y="1380744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and DataFrame operations.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309360" y="777240"/>
            <a:ext cx="2651760" cy="1737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777240"/>
            <a:ext cx="64008" cy="173736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91440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76288" y="9144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46520" y="130759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73952" y="1380744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and numerical computing.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82880" y="2743200"/>
            <a:ext cx="2651760" cy="1737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82880" y="2743200"/>
            <a:ext cx="6400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88036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808" y="28803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20040" y="327355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47472" y="3346704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— bar charts, confusion matrix, decision tree plot.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46120" y="2743200"/>
            <a:ext cx="2651760" cy="1737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46120" y="2743200"/>
            <a:ext cx="64008" cy="173736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880360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13048" y="28803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383280" y="327355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410712" y="3346704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 DecisionTree, RandomForest, KNN, SVM; metrics &amp; splitting.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309360" y="2743200"/>
            <a:ext cx="2651760" cy="1737360"/>
          </a:xfrm>
          <a:prstGeom prst="rect">
            <a:avLst/>
          </a:prstGeom>
          <a:solidFill>
            <a:srgbClr val="2A1F10"/>
          </a:solidFill>
          <a:ln w="9525">
            <a:solidFill>
              <a:srgbClr val="5C3D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309360" y="2743200"/>
            <a:ext cx="64008" cy="173736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880360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76288" y="28803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446520" y="3273552"/>
            <a:ext cx="2377440" cy="0"/>
          </a:xfrm>
          <a:prstGeom prst="line">
            <a:avLst/>
          </a:prstGeom>
          <a:noFill/>
          <a:ln w="6350">
            <a:solidFill>
              <a:srgbClr val="5C3D1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473952" y="3346704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used for coding and testing.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182880" y="4526280"/>
            <a:ext cx="8778240" cy="347472"/>
          </a:xfrm>
          <a:prstGeom prst="rect">
            <a:avLst/>
          </a:prstGeom>
          <a:solidFill>
            <a:srgbClr val="3D2B15"/>
          </a:solidFill>
          <a:ln w="12700">
            <a:solidFill>
              <a:srgbClr val="5C3D1A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Synthetically generated  |  300 records  |  5 features  |  5 classes  |  80/20 split  |  random_state = 42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8686800" cy="0"/>
          </a:xfrm>
          <a:prstGeom prst="line">
            <a:avLst/>
          </a:prstGeom>
          <a:noFill/>
          <a:ln w="9525">
            <a:solidFill>
              <a:srgbClr val="5C3D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07008"/>
            <a:ext cx="8686800" cy="53035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207008"/>
            <a:ext cx="64008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31673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1271016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highest accuracy (30%) but classified all samples as 'Light' — indicating class imbalance.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" y="1828800"/>
            <a:ext cx="8686800" cy="53035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1828800"/>
            <a:ext cx="64008" cy="53035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3852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1892808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showed the most balanced predictions across all five classes with 27% accuracy.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8600" y="2450592"/>
            <a:ext cx="64008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2514600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scored lowest (20%) but had the most distributed per-class performance.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28600" y="3072384"/>
            <a:ext cx="8686800" cy="53035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28600" y="3072384"/>
            <a:ext cx="64008" cy="53035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8211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" y="3136392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provided best interpretability with depth=5 structure and clear feature splits.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28600" y="3694176"/>
            <a:ext cx="8686800" cy="53035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28600" y="3694176"/>
            <a:ext cx="64008" cy="530352"/>
          </a:xfrm>
          <a:prstGeom prst="rect">
            <a:avLst/>
          </a:prstGeom>
          <a:solidFill>
            <a:srgbClr val="C4A97A"/>
          </a:solidFill>
          <a:ln w="12700">
            <a:solidFill>
              <a:srgbClr val="C4A97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80390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800" y="3758184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lacks discriminative power — real USGS data needed for meaningful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91440"/>
            <a:ext cx="502920" cy="475488"/>
          </a:xfrm>
          <a:prstGeom prst="rect">
            <a:avLst>
              <a:gd name="adj" fmla="val 9615"/>
            </a:avLst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91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04672"/>
            <a:ext cx="64008" cy="438912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04672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8595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335024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35024"/>
            <a:ext cx="64008" cy="43891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335024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1389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Earthquake Hazards Program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865376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865376"/>
            <a:ext cx="64008" cy="438912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65376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1920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Aurélien Géron — Hands-On Machine Learning with Scikit-Learn, Keras and TensorFlow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395728"/>
            <a:ext cx="64008" cy="43891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95728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24505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M. Bishop — Pattern Recognition and Machine Learning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926080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926080"/>
            <a:ext cx="64008" cy="438912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9260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29809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Documentation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456432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456432"/>
            <a:ext cx="64008" cy="43891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456432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5112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Documentation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3986784"/>
            <a:ext cx="8686800" cy="438912"/>
          </a:xfrm>
          <a:prstGeom prst="rect">
            <a:avLst/>
          </a:prstGeom>
          <a:solidFill>
            <a:srgbClr val="2A1F10"/>
          </a:solidFill>
          <a:ln w="6350">
            <a:solidFill>
              <a:srgbClr val="5C3D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986784"/>
            <a:ext cx="64008" cy="438912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986784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" y="40416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D2B15"/>
          </a:solidFill>
          <a:ln w="12700">
            <a:solidFill>
              <a:srgbClr val="3D2B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D  ·  2117240030101  ·  AL23421 ML Laboratory  ·  Rajalakshmi Institute of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 Magnitude Classification</dc:title>
  <dc:subject>PptxGenJS Presentation</dc:subject>
  <dc:creator>PptxGenJS</dc:creator>
  <cp:lastModifiedBy>PptxGenJS</cp:lastModifiedBy>
  <cp:revision>1</cp:revision>
  <dcterms:created xsi:type="dcterms:W3CDTF">2026-04-26T07:45:12Z</dcterms:created>
  <dcterms:modified xsi:type="dcterms:W3CDTF">2026-04-26T07:45:12Z</dcterms:modified>
</cp:coreProperties>
</file>